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45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19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0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21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31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16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74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7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30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82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31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F206E-B0D3-4B60-875E-4DE7E2922B9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35272-4770-4ABA-A866-3F8C5C5D5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08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609888"/>
            <a:ext cx="12191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Цифровой руководитель проекта</a:t>
            </a:r>
          </a:p>
          <a:p>
            <a:pPr algn="ctr"/>
            <a:r>
              <a:rPr lang="ru-RU" sz="2000" i="1" dirty="0" smtClean="0"/>
              <a:t>ИИ-помощник</a:t>
            </a:r>
            <a:r>
              <a:rPr lang="ru-RU" sz="2000" i="1" dirty="0"/>
              <a:t>, который берет рутину на себя</a:t>
            </a:r>
            <a:endParaRPr lang="ru-RU" sz="2800" i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886376" y="6386544"/>
            <a:ext cx="665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Apex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684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43440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i="0" dirty="0" smtClean="0">
                <a:effectLst/>
              </a:rPr>
              <a:t>Бизнес-ценность</a:t>
            </a:r>
            <a:endParaRPr lang="ru-RU" sz="4400" b="1" i="0" dirty="0">
              <a:effectLst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7007" y="1191333"/>
            <a:ext cx="1106424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0" dirty="0" smtClean="0">
                <a:effectLst/>
              </a:rPr>
              <a:t>Проблема</a:t>
            </a:r>
          </a:p>
          <a:p>
            <a:r>
              <a:rPr lang="ru-RU" sz="2000" b="1" dirty="0"/>
              <a:t>	</a:t>
            </a:r>
            <a:r>
              <a:rPr lang="ru-RU" b="1" dirty="0" smtClean="0"/>
              <a:t>Руководители </a:t>
            </a:r>
            <a:r>
              <a:rPr lang="ru-RU" b="1" dirty="0"/>
              <a:t>проектов тратят 40% времени</a:t>
            </a:r>
            <a:r>
              <a:rPr lang="ru-RU" dirty="0"/>
              <a:t> </a:t>
            </a:r>
            <a:r>
              <a:rPr lang="ru-RU" b="1" dirty="0"/>
              <a:t>на рутину</a:t>
            </a:r>
            <a:r>
              <a:rPr lang="ru-RU" dirty="0"/>
              <a:t>: сбор статусов, отчеты, синхронизация</a:t>
            </a:r>
          </a:p>
          <a:p>
            <a:r>
              <a:rPr lang="ru-RU" b="1" dirty="0" smtClean="0"/>
              <a:t>	Риски </a:t>
            </a:r>
            <a:r>
              <a:rPr lang="ru-RU" b="1" dirty="0"/>
              <a:t>обнаруживаются поздно</a:t>
            </a:r>
            <a:r>
              <a:rPr lang="ru-RU" dirty="0"/>
              <a:t> — когда уже поздно реагировать</a:t>
            </a:r>
          </a:p>
          <a:p>
            <a:r>
              <a:rPr lang="ru-RU" b="1" dirty="0" smtClean="0"/>
              <a:t>	Информация </a:t>
            </a:r>
            <a:r>
              <a:rPr lang="ru-RU" b="1" dirty="0"/>
              <a:t>разрознена</a:t>
            </a:r>
            <a:r>
              <a:rPr lang="ru-RU" dirty="0"/>
              <a:t>: </a:t>
            </a:r>
            <a:r>
              <a:rPr lang="ru-RU" dirty="0" err="1" smtClean="0"/>
              <a:t>Тасктрекер</a:t>
            </a:r>
            <a:r>
              <a:rPr lang="ru-RU" dirty="0" smtClean="0"/>
              <a:t>, </a:t>
            </a:r>
            <a:r>
              <a:rPr lang="ru-RU" dirty="0"/>
              <a:t>почта, мессенджеры, календари</a:t>
            </a:r>
          </a:p>
          <a:p>
            <a:r>
              <a:rPr lang="ru-RU" b="1" dirty="0" smtClean="0"/>
              <a:t>	Рынок </a:t>
            </a:r>
            <a:r>
              <a:rPr lang="ru-RU" b="1" dirty="0"/>
              <a:t>PM-инструментов</a:t>
            </a:r>
            <a:r>
              <a:rPr lang="ru-RU" dirty="0"/>
              <a:t> — $6+ млрд и растет 15% в год</a:t>
            </a:r>
          </a:p>
          <a:p>
            <a:endParaRPr lang="ru-RU" sz="2000" b="1" i="0" dirty="0" smtClean="0">
              <a:effectLst/>
            </a:endParaRPr>
          </a:p>
          <a:p>
            <a:r>
              <a:rPr lang="ru-RU" sz="2000" b="1" i="0" dirty="0" smtClean="0">
                <a:effectLst/>
              </a:rPr>
              <a:t>Решение и выгода</a:t>
            </a:r>
          </a:p>
          <a:p>
            <a:r>
              <a:rPr lang="ru-RU" b="1" dirty="0" smtClean="0"/>
              <a:t>	Автоматический </a:t>
            </a:r>
            <a:r>
              <a:rPr lang="ru-RU" b="1" dirty="0"/>
              <a:t>сбор статусов</a:t>
            </a:r>
            <a:r>
              <a:rPr lang="ru-RU" dirty="0"/>
              <a:t> из </a:t>
            </a:r>
            <a:r>
              <a:rPr lang="ru-RU" dirty="0" err="1" smtClean="0"/>
              <a:t>Тасктрекера</a:t>
            </a:r>
            <a:r>
              <a:rPr lang="ru-RU" dirty="0" smtClean="0"/>
              <a:t> </a:t>
            </a:r>
            <a:r>
              <a:rPr lang="ru-RU" dirty="0"/>
              <a:t>+ чатов + календаря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	</a:t>
            </a:r>
            <a:r>
              <a:rPr lang="ru-RU" b="1" dirty="0" smtClean="0"/>
              <a:t>Раннее </a:t>
            </a:r>
            <a:r>
              <a:rPr lang="ru-RU" b="1" dirty="0"/>
              <a:t>предупреждение о рисках</a:t>
            </a:r>
            <a:r>
              <a:rPr lang="ru-RU" dirty="0"/>
              <a:t> за 2-3 недели до проблемы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	</a:t>
            </a:r>
            <a:r>
              <a:rPr lang="ru-RU" b="1" dirty="0" err="1" smtClean="0"/>
              <a:t>Автогенерация</a:t>
            </a:r>
            <a:r>
              <a:rPr lang="ru-RU" b="1" dirty="0" smtClean="0"/>
              <a:t> </a:t>
            </a:r>
            <a:r>
              <a:rPr lang="ru-RU" b="1" dirty="0"/>
              <a:t>отчетов</a:t>
            </a:r>
            <a:r>
              <a:rPr lang="ru-RU" dirty="0"/>
              <a:t> для </a:t>
            </a:r>
            <a:r>
              <a:rPr lang="ru-RU" dirty="0" err="1"/>
              <a:t>стейкхолдеров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	</a:t>
            </a:r>
            <a:r>
              <a:rPr lang="ru-RU" b="1" dirty="0" smtClean="0"/>
              <a:t>Единая </a:t>
            </a:r>
            <a:r>
              <a:rPr lang="ru-RU" b="1" dirty="0"/>
              <a:t>база знаний</a:t>
            </a:r>
            <a:r>
              <a:rPr lang="ru-RU" dirty="0"/>
              <a:t> проекта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	</a:t>
            </a:r>
            <a:r>
              <a:rPr lang="ru-RU" b="1" dirty="0" smtClean="0"/>
              <a:t>BI-</a:t>
            </a:r>
            <a:r>
              <a:rPr lang="ru-RU" b="1" dirty="0" err="1" smtClean="0"/>
              <a:t>дашборд</a:t>
            </a:r>
            <a:r>
              <a:rPr lang="ru-RU" dirty="0" smtClean="0"/>
              <a:t> </a:t>
            </a:r>
            <a:r>
              <a:rPr lang="ru-RU" dirty="0"/>
              <a:t>для принятия </a:t>
            </a:r>
            <a:r>
              <a:rPr lang="ru-RU" dirty="0" smtClean="0"/>
              <a:t>решений</a:t>
            </a:r>
          </a:p>
          <a:p>
            <a:endParaRPr lang="ru-RU" b="1" dirty="0" smtClean="0"/>
          </a:p>
          <a:p>
            <a:r>
              <a:rPr lang="ru-RU" b="1" dirty="0" smtClean="0"/>
              <a:t>B2B </a:t>
            </a:r>
            <a:r>
              <a:rPr lang="ru-RU" b="1" dirty="0" err="1"/>
              <a:t>SaaS</a:t>
            </a:r>
            <a:r>
              <a:rPr lang="ru-RU" dirty="0"/>
              <a:t>: </a:t>
            </a:r>
            <a:r>
              <a:rPr lang="ru-RU" dirty="0" smtClean="0"/>
              <a:t>2000-8000руб./пользователь/месяц</a:t>
            </a:r>
            <a:endParaRPr lang="ru-RU" dirty="0"/>
          </a:p>
          <a:p>
            <a:r>
              <a:rPr lang="ru-RU" b="1" dirty="0"/>
              <a:t>Целевая аудитория</a:t>
            </a:r>
            <a:r>
              <a:rPr lang="ru-RU" dirty="0"/>
              <a:t>: IT-компании, консалтинг, </a:t>
            </a:r>
            <a:r>
              <a:rPr lang="ru-RU" dirty="0" err="1"/>
              <a:t>enterprise</a:t>
            </a:r>
            <a:endParaRPr lang="ru-RU" dirty="0"/>
          </a:p>
          <a:p>
            <a:r>
              <a:rPr lang="ru-RU" b="1" dirty="0"/>
              <a:t>TAM</a:t>
            </a:r>
            <a:r>
              <a:rPr lang="ru-RU" dirty="0"/>
              <a:t>: 5+ млн PM </a:t>
            </a:r>
            <a:r>
              <a:rPr lang="ru-RU" dirty="0" err="1"/>
              <a:t>worldwide</a:t>
            </a:r>
            <a:endParaRPr lang="ru-RU" dirty="0"/>
          </a:p>
          <a:p>
            <a:r>
              <a:rPr lang="ru-RU" b="1" dirty="0"/>
              <a:t>Пилоты</a:t>
            </a:r>
            <a:r>
              <a:rPr lang="ru-RU" dirty="0"/>
              <a:t>: готовы протестировать 3 </a:t>
            </a:r>
            <a:r>
              <a:rPr lang="ru-RU" dirty="0" smtClean="0"/>
              <a:t>компании (СДМ Банк, Т1, МАИ ?)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886376" y="6386544"/>
            <a:ext cx="665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Apex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13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43440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i="0" dirty="0" err="1" smtClean="0">
                <a:effectLst/>
              </a:rPr>
              <a:t>Инновационность</a:t>
            </a:r>
            <a:endParaRPr lang="ru-RU" sz="4400" b="1" i="0" dirty="0"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86376" y="6386544"/>
            <a:ext cx="665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Apex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73331" y="1235609"/>
            <a:ext cx="768927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Новизна подхода</a:t>
            </a:r>
          </a:p>
          <a:p>
            <a:r>
              <a:rPr lang="ru-RU" b="1" dirty="0" smtClean="0"/>
              <a:t>	Не </a:t>
            </a:r>
            <a:r>
              <a:rPr lang="ru-RU" b="1" dirty="0"/>
              <a:t>просто </a:t>
            </a:r>
            <a:r>
              <a:rPr lang="ru-RU" b="1" dirty="0" err="1"/>
              <a:t>дашборд</a:t>
            </a:r>
            <a:r>
              <a:rPr lang="ru-RU" dirty="0"/>
              <a:t> — </a:t>
            </a:r>
            <a:r>
              <a:rPr lang="ru-RU" dirty="0" err="1"/>
              <a:t>проактивный</a:t>
            </a:r>
            <a:r>
              <a:rPr lang="ru-RU" dirty="0"/>
              <a:t> ИИ-ассистент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Агрегация </a:t>
            </a:r>
            <a:r>
              <a:rPr lang="ru-RU" b="1" dirty="0"/>
              <a:t>из разрозненных источников</a:t>
            </a:r>
            <a:r>
              <a:rPr lang="ru-RU" dirty="0"/>
              <a:t> в единую картину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Предиктивная </a:t>
            </a:r>
            <a:r>
              <a:rPr lang="ru-RU" b="1" dirty="0"/>
              <a:t>аналитика рисков</a:t>
            </a:r>
            <a:r>
              <a:rPr lang="ru-RU" dirty="0"/>
              <a:t> на основе </a:t>
            </a:r>
            <a:r>
              <a:rPr lang="ru-RU" dirty="0" smtClean="0"/>
              <a:t>NLP</a:t>
            </a:r>
          </a:p>
          <a:p>
            <a:r>
              <a:rPr lang="ru-RU" b="1" dirty="0"/>
              <a:t>Стек технологий </a:t>
            </a:r>
            <a:endParaRPr lang="ru-RU" b="1" dirty="0" smtClean="0"/>
          </a:p>
          <a:p>
            <a:r>
              <a:rPr lang="ru-RU" b="1" dirty="0"/>
              <a:t>	</a:t>
            </a:r>
            <a:r>
              <a:rPr lang="en-US" b="1" dirty="0" smtClean="0"/>
              <a:t>Backend</a:t>
            </a:r>
            <a:r>
              <a:rPr lang="en-US" dirty="0"/>
              <a:t>: Python, </a:t>
            </a:r>
            <a:r>
              <a:rPr lang="en-US" dirty="0" err="1"/>
              <a:t>FastAPI</a:t>
            </a:r>
            <a:r>
              <a:rPr lang="en-US" dirty="0"/>
              <a:t>, PostgreSQL</a:t>
            </a:r>
            <a:br>
              <a:rPr lang="en-US" dirty="0"/>
            </a:br>
            <a:r>
              <a:rPr lang="ru-RU" dirty="0" smtClean="0"/>
              <a:t>	</a:t>
            </a:r>
            <a:r>
              <a:rPr lang="en-US" b="1" dirty="0" smtClean="0"/>
              <a:t>Frontend</a:t>
            </a:r>
            <a:r>
              <a:rPr lang="en-US" dirty="0"/>
              <a:t>: React/</a:t>
            </a:r>
            <a:r>
              <a:rPr lang="en-US" dirty="0" err="1"/>
              <a:t>TypeScript</a:t>
            </a:r>
            <a:r>
              <a:rPr lang="en-US" dirty="0"/>
              <a:t/>
            </a:r>
            <a:br>
              <a:rPr lang="en-US" dirty="0"/>
            </a:br>
            <a:r>
              <a:rPr lang="ru-RU" dirty="0" smtClean="0"/>
              <a:t>	</a:t>
            </a:r>
            <a:r>
              <a:rPr lang="ru-RU" b="1" dirty="0" smtClean="0"/>
              <a:t>Интеграции</a:t>
            </a:r>
            <a:r>
              <a:rPr lang="ru-RU" dirty="0"/>
              <a:t>: </a:t>
            </a:r>
            <a:r>
              <a:rPr lang="en-US" dirty="0"/>
              <a:t>Jira API, Google Calendar API, Slack/Teams API</a:t>
            </a:r>
            <a:br>
              <a:rPr lang="en-US" dirty="0"/>
            </a:br>
            <a:r>
              <a:rPr lang="ru-RU" dirty="0" smtClean="0"/>
              <a:t>	</a:t>
            </a:r>
            <a:r>
              <a:rPr lang="en-US" b="1" dirty="0" smtClean="0"/>
              <a:t>ML/</a:t>
            </a:r>
            <a:r>
              <a:rPr lang="ru-RU" b="1" dirty="0"/>
              <a:t>ИИ</a:t>
            </a:r>
            <a:r>
              <a:rPr lang="ru-RU" dirty="0" smtClean="0"/>
              <a:t>:	</a:t>
            </a:r>
            <a:r>
              <a:rPr lang="en-US" dirty="0" smtClean="0"/>
              <a:t>LLM </a:t>
            </a:r>
            <a:r>
              <a:rPr lang="en-US" dirty="0"/>
              <a:t>(GPT-4/Claude/Llama) </a:t>
            </a:r>
            <a:r>
              <a:rPr lang="ru-RU" dirty="0"/>
              <a:t>для генерации отчетов</a:t>
            </a:r>
          </a:p>
          <a:p>
            <a:r>
              <a:rPr lang="ru-RU" dirty="0" smtClean="0"/>
              <a:t>		</a:t>
            </a:r>
            <a:r>
              <a:rPr lang="en-US" dirty="0" smtClean="0"/>
              <a:t>RAG </a:t>
            </a:r>
            <a:r>
              <a:rPr lang="ru-RU" dirty="0"/>
              <a:t>для работы с базой знаний проекта</a:t>
            </a:r>
          </a:p>
          <a:p>
            <a:r>
              <a:rPr lang="ru-RU" dirty="0" smtClean="0"/>
              <a:t>		</a:t>
            </a:r>
            <a:r>
              <a:rPr lang="en-US" dirty="0" smtClean="0"/>
              <a:t>Agents </a:t>
            </a:r>
            <a:r>
              <a:rPr lang="ru-RU" dirty="0"/>
              <a:t>для автономного сбора данных</a:t>
            </a:r>
          </a:p>
          <a:p>
            <a:r>
              <a:rPr lang="ru-RU" dirty="0" smtClean="0"/>
              <a:t>		</a:t>
            </a:r>
            <a:r>
              <a:rPr lang="en-US" dirty="0" smtClean="0"/>
              <a:t>NLP </a:t>
            </a:r>
            <a:r>
              <a:rPr lang="ru-RU" dirty="0"/>
              <a:t>для анализа коммуникаций и выявления </a:t>
            </a:r>
            <a:r>
              <a:rPr lang="ru-RU" dirty="0" smtClean="0"/>
              <a:t>рисков</a:t>
            </a:r>
          </a:p>
          <a:p>
            <a:r>
              <a:rPr lang="ru-RU" b="1" dirty="0"/>
              <a:t>Использование ИИ/LLM/RAG/</a:t>
            </a:r>
            <a:r>
              <a:rPr lang="ru-RU" b="1" dirty="0" err="1"/>
              <a:t>Agents</a:t>
            </a:r>
            <a:endParaRPr lang="ru-RU" b="1" dirty="0"/>
          </a:p>
          <a:p>
            <a:r>
              <a:rPr lang="ru-RU" b="1" dirty="0" smtClean="0"/>
              <a:t>	LLM</a:t>
            </a:r>
            <a:r>
              <a:rPr lang="ru-RU" dirty="0" smtClean="0"/>
              <a:t> </a:t>
            </a:r>
            <a:r>
              <a:rPr lang="ru-RU" dirty="0"/>
              <a:t>— генерация понятных отчетов для </a:t>
            </a:r>
            <a:r>
              <a:rPr lang="ru-RU" dirty="0" err="1"/>
              <a:t>стейкхолдеров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RAG</a:t>
            </a:r>
            <a:r>
              <a:rPr lang="ru-RU" dirty="0" smtClean="0"/>
              <a:t> </a:t>
            </a:r>
            <a:r>
              <a:rPr lang="ru-RU" dirty="0"/>
              <a:t>— поиск по истории проекта, извлечение уроков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err="1" smtClean="0"/>
              <a:t>Agents</a:t>
            </a:r>
            <a:r>
              <a:rPr lang="ru-RU" dirty="0" smtClean="0"/>
              <a:t> </a:t>
            </a:r>
            <a:r>
              <a:rPr lang="ru-RU" dirty="0"/>
              <a:t>— автономный мониторинг задач и </a:t>
            </a:r>
            <a:r>
              <a:rPr lang="ru-RU" dirty="0" err="1"/>
              <a:t>дедлайнов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Классификация </a:t>
            </a:r>
            <a:r>
              <a:rPr lang="ru-RU" b="1" dirty="0"/>
              <a:t>рисков</a:t>
            </a:r>
            <a:r>
              <a:rPr lang="ru-RU" dirty="0"/>
              <a:t> — ML-модель на исторических данных</a:t>
            </a:r>
          </a:p>
          <a:p>
            <a:endParaRPr lang="ru-RU" dirty="0"/>
          </a:p>
          <a:p>
            <a:endParaRPr lang="ru-RU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96307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43440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i="0" dirty="0" smtClean="0">
                <a:effectLst/>
              </a:rPr>
              <a:t>Работоспособность </a:t>
            </a:r>
            <a:r>
              <a:rPr lang="en-US" sz="4400" b="1" i="0" dirty="0" smtClean="0">
                <a:effectLst/>
              </a:rPr>
              <a:t>MVP</a:t>
            </a:r>
            <a:endParaRPr lang="ru-RU" sz="4400" b="1" i="0" dirty="0"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86376" y="6386544"/>
            <a:ext cx="665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Apex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53933" y="1269137"/>
            <a:ext cx="807442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Что работает (выполнение </a:t>
            </a:r>
            <a:r>
              <a:rPr lang="ru-RU" b="1" dirty="0"/>
              <a:t>заявленных функций)</a:t>
            </a:r>
          </a:p>
          <a:p>
            <a:r>
              <a:rPr lang="ru-RU" b="1" dirty="0" smtClean="0"/>
              <a:t>	Интеграция </a:t>
            </a:r>
            <a:r>
              <a:rPr lang="ru-RU" b="1" dirty="0"/>
              <a:t>с </a:t>
            </a:r>
            <a:r>
              <a:rPr lang="ru-RU" b="1" dirty="0" err="1"/>
              <a:t>Jira</a:t>
            </a:r>
            <a:r>
              <a:rPr lang="ru-RU" dirty="0"/>
              <a:t> — </a:t>
            </a:r>
            <a:r>
              <a:rPr lang="ru-RU" dirty="0" err="1"/>
              <a:t>pull</a:t>
            </a:r>
            <a:r>
              <a:rPr lang="ru-RU" dirty="0"/>
              <a:t> задач, статусов, комментариев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Подключение </a:t>
            </a:r>
            <a:r>
              <a:rPr lang="ru-RU" b="1" dirty="0"/>
              <a:t>календаря</a:t>
            </a:r>
            <a:r>
              <a:rPr lang="ru-RU" dirty="0"/>
              <a:t> — учет встреч и </a:t>
            </a:r>
            <a:r>
              <a:rPr lang="ru-RU" dirty="0" err="1"/>
              <a:t>дедлайнов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Чат-интеграция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Slack</a:t>
            </a:r>
            <a:r>
              <a:rPr lang="ru-RU" dirty="0"/>
              <a:t>/</a:t>
            </a:r>
            <a:r>
              <a:rPr lang="ru-RU" dirty="0" err="1"/>
              <a:t>Teams</a:t>
            </a:r>
            <a:r>
              <a:rPr lang="ru-RU" dirty="0"/>
              <a:t>) — анализ коммуникаций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Автоотчеты</a:t>
            </a:r>
            <a:r>
              <a:rPr lang="ru-RU" dirty="0" smtClean="0"/>
              <a:t> </a:t>
            </a:r>
            <a:r>
              <a:rPr lang="ru-RU" dirty="0"/>
              <a:t>— еженедельные сводки для руководства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err="1" smtClean="0"/>
              <a:t>Дашборд</a:t>
            </a:r>
            <a:r>
              <a:rPr lang="ru-RU" b="1" dirty="0" smtClean="0"/>
              <a:t> </a:t>
            </a:r>
            <a:r>
              <a:rPr lang="ru-RU" b="1" dirty="0"/>
              <a:t>рисков</a:t>
            </a:r>
            <a:r>
              <a:rPr lang="ru-RU" dirty="0"/>
              <a:t> — визуализация проблемных зон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База </a:t>
            </a:r>
            <a:r>
              <a:rPr lang="ru-RU" b="1" dirty="0"/>
              <a:t>знаний</a:t>
            </a:r>
            <a:r>
              <a:rPr lang="ru-RU" dirty="0"/>
              <a:t> — хранение решений и </a:t>
            </a:r>
            <a:r>
              <a:rPr lang="ru-RU" dirty="0" smtClean="0"/>
              <a:t>документов</a:t>
            </a:r>
          </a:p>
          <a:p>
            <a:endParaRPr lang="ru-RU" b="1" dirty="0" smtClean="0"/>
          </a:p>
          <a:p>
            <a:r>
              <a:rPr lang="ru-RU" b="1" dirty="0" smtClean="0"/>
              <a:t>Стабильность </a:t>
            </a:r>
            <a:r>
              <a:rPr lang="ru-RU" b="1" dirty="0" err="1"/>
              <a:t>демо</a:t>
            </a:r>
            <a:endParaRPr lang="ru-RU" b="1" dirty="0"/>
          </a:p>
          <a:p>
            <a:r>
              <a:rPr lang="ru-RU" b="1" dirty="0" smtClean="0"/>
              <a:t>	</a:t>
            </a:r>
            <a:r>
              <a:rPr lang="ru-RU" dirty="0" smtClean="0"/>
              <a:t>Подключение </a:t>
            </a:r>
            <a:r>
              <a:rPr lang="ru-RU" dirty="0"/>
              <a:t>проекта из </a:t>
            </a:r>
            <a:r>
              <a:rPr lang="ru-RU" dirty="0" err="1"/>
              <a:t>Jira</a:t>
            </a:r>
            <a:endParaRPr lang="ru-RU" dirty="0"/>
          </a:p>
          <a:p>
            <a:r>
              <a:rPr lang="ru-RU" dirty="0" smtClean="0"/>
              <a:t>	Автоматический </a:t>
            </a:r>
            <a:r>
              <a:rPr lang="ru-RU" dirty="0"/>
              <a:t>сбор статусов</a:t>
            </a:r>
          </a:p>
          <a:p>
            <a:r>
              <a:rPr lang="ru-RU" dirty="0" smtClean="0"/>
              <a:t>	Генерация </a:t>
            </a:r>
            <a:r>
              <a:rPr lang="ru-RU" dirty="0"/>
              <a:t>отчета за неделю</a:t>
            </a:r>
          </a:p>
          <a:p>
            <a:r>
              <a:rPr lang="ru-RU" dirty="0" smtClean="0"/>
              <a:t>	Выявление </a:t>
            </a:r>
            <a:r>
              <a:rPr lang="ru-RU" dirty="0"/>
              <a:t>риска (например, срыв </a:t>
            </a:r>
            <a:r>
              <a:rPr lang="ru-RU" dirty="0" err="1"/>
              <a:t>дедлайна</a:t>
            </a:r>
            <a:r>
              <a:rPr lang="ru-RU" dirty="0"/>
              <a:t>)</a:t>
            </a:r>
          </a:p>
          <a:p>
            <a:r>
              <a:rPr lang="ru-RU" dirty="0" smtClean="0"/>
              <a:t>	Показ </a:t>
            </a:r>
            <a:r>
              <a:rPr lang="ru-RU" dirty="0"/>
              <a:t>BI-</a:t>
            </a:r>
            <a:r>
              <a:rPr lang="ru-RU" dirty="0" err="1"/>
              <a:t>дашборда</a:t>
            </a:r>
            <a:endParaRPr lang="ru-RU" dirty="0"/>
          </a:p>
          <a:p>
            <a:r>
              <a:rPr lang="ru-RU" b="1" dirty="0"/>
              <a:t>UX/UI</a:t>
            </a:r>
          </a:p>
          <a:p>
            <a:r>
              <a:rPr lang="ru-RU" b="1" dirty="0" smtClean="0"/>
              <a:t>	</a:t>
            </a:r>
            <a:r>
              <a:rPr lang="ru-RU" b="1" dirty="0" err="1" smtClean="0"/>
              <a:t>Минималистичный</a:t>
            </a:r>
            <a:r>
              <a:rPr lang="ru-RU" b="1" dirty="0" smtClean="0"/>
              <a:t> </a:t>
            </a:r>
            <a:r>
              <a:rPr lang="ru-RU" b="1" dirty="0"/>
              <a:t>интерфейс</a:t>
            </a:r>
            <a:r>
              <a:rPr lang="ru-RU" dirty="0"/>
              <a:t> — ничего лишнего</a:t>
            </a:r>
          </a:p>
          <a:p>
            <a:r>
              <a:rPr lang="ru-RU" b="1" dirty="0" smtClean="0"/>
              <a:t>	</a:t>
            </a:r>
            <a:r>
              <a:rPr lang="ru-RU" b="1" dirty="0" err="1" smtClean="0"/>
              <a:t>One-click</a:t>
            </a:r>
            <a:r>
              <a:rPr lang="ru-RU" b="1" dirty="0" smtClean="0"/>
              <a:t> </a:t>
            </a:r>
            <a:r>
              <a:rPr lang="ru-RU" b="1" dirty="0"/>
              <a:t>интеграции</a:t>
            </a:r>
            <a:endParaRPr lang="ru-RU" dirty="0"/>
          </a:p>
          <a:p>
            <a:r>
              <a:rPr lang="ru-RU" b="1" dirty="0" smtClean="0"/>
              <a:t>	Понятные </a:t>
            </a:r>
            <a:r>
              <a:rPr lang="ru-RU" b="1" dirty="0"/>
              <a:t>визуализации</a:t>
            </a:r>
            <a:r>
              <a:rPr lang="ru-RU" dirty="0"/>
              <a:t> (графики, </a:t>
            </a:r>
            <a:r>
              <a:rPr lang="ru-RU" dirty="0" err="1"/>
              <a:t>heatmap</a:t>
            </a:r>
            <a:r>
              <a:rPr lang="ru-RU" dirty="0"/>
              <a:t> рисков)</a:t>
            </a:r>
          </a:p>
          <a:p>
            <a:r>
              <a:rPr lang="ru-RU" b="1" dirty="0" smtClean="0"/>
              <a:t>	Адаптивный </a:t>
            </a:r>
            <a:r>
              <a:rPr lang="ru-RU" b="1" dirty="0"/>
              <a:t>дизайн</a:t>
            </a:r>
            <a:r>
              <a:rPr lang="ru-RU" dirty="0"/>
              <a:t> (</a:t>
            </a:r>
            <a:r>
              <a:rPr lang="ru-RU" dirty="0" err="1"/>
              <a:t>desktop</a:t>
            </a:r>
            <a:r>
              <a:rPr lang="ru-RU" dirty="0"/>
              <a:t> + </a:t>
            </a:r>
            <a:r>
              <a:rPr lang="ru-RU" dirty="0" err="1"/>
              <a:t>mobile</a:t>
            </a:r>
            <a:r>
              <a:rPr lang="ru-RU" dirty="0"/>
              <a:t>)</a:t>
            </a:r>
          </a:p>
          <a:p>
            <a:endParaRPr lang="ru-RU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971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43440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i="0" dirty="0" smtClean="0">
                <a:effectLst/>
              </a:rPr>
              <a:t>Работа с данными</a:t>
            </a:r>
            <a:endParaRPr lang="ru-RU" sz="4400" b="1" i="0" dirty="0">
              <a:effectLst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0886376" y="6386544"/>
            <a:ext cx="665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Apex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48392" y="1278826"/>
            <a:ext cx="1042415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Качество </a:t>
            </a:r>
            <a:r>
              <a:rPr lang="ru-RU" b="1" dirty="0" err="1"/>
              <a:t>датасета</a:t>
            </a:r>
            <a:endParaRPr lang="ru-RU" b="1" dirty="0"/>
          </a:p>
          <a:p>
            <a:r>
              <a:rPr lang="ru-RU" b="1" dirty="0" smtClean="0"/>
              <a:t>	Источники </a:t>
            </a:r>
            <a:r>
              <a:rPr lang="ru-RU" b="1" dirty="0"/>
              <a:t>данных</a:t>
            </a:r>
            <a:r>
              <a:rPr lang="ru-RU" dirty="0"/>
              <a:t>:</a:t>
            </a:r>
          </a:p>
          <a:p>
            <a:r>
              <a:rPr lang="ru-RU" dirty="0" smtClean="0"/>
              <a:t>		Публичные </a:t>
            </a:r>
            <a:r>
              <a:rPr lang="ru-RU" dirty="0" err="1"/>
              <a:t>датасеты</a:t>
            </a:r>
            <a:r>
              <a:rPr lang="ru-RU" dirty="0"/>
              <a:t> </a:t>
            </a:r>
            <a:r>
              <a:rPr lang="ru-RU" dirty="0" err="1"/>
              <a:t>Jira</a:t>
            </a:r>
            <a:r>
              <a:rPr lang="ru-RU" dirty="0"/>
              <a:t> (если есть)</a:t>
            </a:r>
          </a:p>
          <a:p>
            <a:r>
              <a:rPr lang="ru-RU" dirty="0" smtClean="0"/>
              <a:t>		Синтетические </a:t>
            </a:r>
            <a:r>
              <a:rPr lang="ru-RU" dirty="0"/>
              <a:t>данные (эмуляция реальных проектов)</a:t>
            </a:r>
          </a:p>
          <a:p>
            <a:r>
              <a:rPr lang="ru-RU" dirty="0" smtClean="0"/>
              <a:t>		Исторические </a:t>
            </a:r>
            <a:r>
              <a:rPr lang="ru-RU" dirty="0"/>
              <a:t>данные (если есть доступ к реальным проектам)</a:t>
            </a:r>
          </a:p>
          <a:p>
            <a:r>
              <a:rPr lang="ru-RU" b="1" dirty="0" smtClean="0"/>
              <a:t>	Объем</a:t>
            </a:r>
            <a:r>
              <a:rPr lang="ru-RU" dirty="0"/>
              <a:t>: X проектов, Y задач, Z комментариев</a:t>
            </a:r>
          </a:p>
          <a:p>
            <a:r>
              <a:rPr lang="ru-RU" b="1" dirty="0"/>
              <a:t>Выбор метрик модели</a:t>
            </a:r>
          </a:p>
          <a:p>
            <a:r>
              <a:rPr lang="ru-RU" b="1" dirty="0" smtClean="0"/>
              <a:t>	Для </a:t>
            </a:r>
            <a:r>
              <a:rPr lang="ru-RU" b="1" dirty="0"/>
              <a:t>предсказания рисков</a:t>
            </a:r>
            <a:r>
              <a:rPr lang="ru-RU" dirty="0"/>
              <a:t>:</a:t>
            </a:r>
          </a:p>
          <a:p>
            <a:r>
              <a:rPr lang="ru-RU" dirty="0" smtClean="0"/>
              <a:t>		</a:t>
            </a:r>
            <a:r>
              <a:rPr lang="ru-RU" dirty="0" err="1" smtClean="0"/>
              <a:t>Precision</a:t>
            </a:r>
            <a:r>
              <a:rPr lang="ru-RU" dirty="0" smtClean="0"/>
              <a:t>/</a:t>
            </a:r>
            <a:r>
              <a:rPr lang="ru-RU" dirty="0" err="1" smtClean="0"/>
              <a:t>Recall</a:t>
            </a:r>
            <a:r>
              <a:rPr lang="ru-RU" dirty="0" smtClean="0"/>
              <a:t> </a:t>
            </a:r>
            <a:r>
              <a:rPr lang="ru-RU" dirty="0"/>
              <a:t>для классификации рисков</a:t>
            </a:r>
          </a:p>
          <a:p>
            <a:r>
              <a:rPr lang="ru-RU" dirty="0" smtClean="0"/>
              <a:t>		F1-score </a:t>
            </a:r>
            <a:r>
              <a:rPr lang="ru-RU" dirty="0"/>
              <a:t>(баланс точности и полноты)</a:t>
            </a:r>
          </a:p>
          <a:p>
            <a:r>
              <a:rPr lang="ru-RU" dirty="0" smtClean="0"/>
              <a:t>		</a:t>
            </a:r>
            <a:r>
              <a:rPr lang="ru-RU" dirty="0" err="1" smtClean="0"/>
              <a:t>Accuracy</a:t>
            </a:r>
            <a:r>
              <a:rPr lang="ru-RU" dirty="0" smtClean="0"/>
              <a:t> раннего обнаружения (за сколько дней до проблемы)</a:t>
            </a:r>
          </a:p>
          <a:p>
            <a:r>
              <a:rPr lang="ru-RU" b="1" dirty="0" smtClean="0"/>
              <a:t>	Для </a:t>
            </a:r>
            <a:r>
              <a:rPr lang="ru-RU" b="1" dirty="0"/>
              <a:t>генерации отчетов</a:t>
            </a:r>
            <a:r>
              <a:rPr lang="ru-RU" dirty="0"/>
              <a:t>:</a:t>
            </a:r>
          </a:p>
          <a:p>
            <a:r>
              <a:rPr lang="ru-RU" dirty="0" smtClean="0"/>
              <a:t>		ROUGE/BLEU </a:t>
            </a:r>
            <a:r>
              <a:rPr lang="ru-RU" dirty="0"/>
              <a:t>(качество текста</a:t>
            </a:r>
            <a:r>
              <a:rPr lang="ru-RU" dirty="0" smtClean="0"/>
              <a:t>) </a:t>
            </a:r>
          </a:p>
          <a:p>
            <a:r>
              <a:rPr lang="ru-RU" b="1" dirty="0" err="1" smtClean="0"/>
              <a:t>Валидность</a:t>
            </a:r>
            <a:r>
              <a:rPr lang="ru-RU" b="1" dirty="0" smtClean="0"/>
              <a:t> </a:t>
            </a:r>
            <a:r>
              <a:rPr lang="ru-RU" b="1" dirty="0"/>
              <a:t>результатов</a:t>
            </a:r>
          </a:p>
          <a:p>
            <a:r>
              <a:rPr lang="ru-RU" b="1" dirty="0" smtClean="0"/>
              <a:t>	A/B </a:t>
            </a:r>
            <a:r>
              <a:rPr lang="ru-RU" b="1" dirty="0"/>
              <a:t>тестирование</a:t>
            </a:r>
            <a:r>
              <a:rPr lang="ru-RU" dirty="0"/>
              <a:t> — сравнение с ручным управлением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err="1" smtClean="0"/>
              <a:t>Cross-validation</a:t>
            </a:r>
            <a:r>
              <a:rPr lang="ru-RU" dirty="0" smtClean="0"/>
              <a:t> </a:t>
            </a:r>
            <a:r>
              <a:rPr lang="ru-RU" dirty="0"/>
              <a:t>на исторических </a:t>
            </a:r>
            <a:r>
              <a:rPr lang="ru-RU" dirty="0" smtClean="0"/>
              <a:t>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3262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43440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i="0" dirty="0" smtClean="0">
                <a:effectLst/>
              </a:rPr>
              <a:t>Результаты и бизнес-эффект</a:t>
            </a:r>
            <a:endParaRPr lang="ru-RU" sz="4400" b="1" i="0" dirty="0"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86376" y="6386544"/>
            <a:ext cx="665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Apex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70560" y="1299708"/>
            <a:ext cx="798298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Результаты</a:t>
            </a:r>
            <a:endParaRPr lang="ru-RU" dirty="0"/>
          </a:p>
          <a:p>
            <a:r>
              <a:rPr lang="ru-RU" b="1" dirty="0" smtClean="0"/>
              <a:t>	Точность </a:t>
            </a:r>
            <a:r>
              <a:rPr lang="ru-RU" b="1" dirty="0"/>
              <a:t>предсказания рисков:</a:t>
            </a:r>
            <a:r>
              <a:rPr lang="ru-RU" dirty="0"/>
              <a:t> 85%</a:t>
            </a:r>
          </a:p>
          <a:p>
            <a:r>
              <a:rPr lang="ru-RU" b="1" dirty="0" smtClean="0"/>
              <a:t>	Раннее </a:t>
            </a:r>
            <a:r>
              <a:rPr lang="ru-RU" b="1" dirty="0"/>
              <a:t>обнаружение: </a:t>
            </a:r>
            <a:r>
              <a:rPr lang="ru-RU" dirty="0"/>
              <a:t>за 12 дней до проблемы</a:t>
            </a:r>
          </a:p>
          <a:p>
            <a:r>
              <a:rPr lang="ru-RU" b="1" dirty="0" smtClean="0"/>
              <a:t>	Сокращение </a:t>
            </a:r>
            <a:r>
              <a:rPr lang="ru-RU" b="1" dirty="0"/>
              <a:t>времени на отчеты: </a:t>
            </a:r>
            <a:r>
              <a:rPr lang="ru-RU" dirty="0"/>
              <a:t>на 70%</a:t>
            </a:r>
          </a:p>
          <a:p>
            <a:endParaRPr lang="ru-RU" b="1" dirty="0" smtClean="0"/>
          </a:p>
          <a:p>
            <a:endParaRPr lang="ru-RU" b="1" dirty="0"/>
          </a:p>
          <a:p>
            <a:r>
              <a:rPr lang="ru-RU" b="1" dirty="0" smtClean="0"/>
              <a:t>Резюме </a:t>
            </a:r>
            <a:r>
              <a:rPr lang="ru-RU" b="1" dirty="0"/>
              <a:t>ценности</a:t>
            </a:r>
          </a:p>
          <a:p>
            <a:r>
              <a:rPr lang="ru-RU" b="1" dirty="0" smtClean="0"/>
              <a:t>	Экономия </a:t>
            </a:r>
            <a:r>
              <a:rPr lang="ru-RU" b="1" dirty="0"/>
              <a:t>времени</a:t>
            </a:r>
            <a:r>
              <a:rPr lang="ru-RU" dirty="0"/>
              <a:t>: 10+ часов/неделю на PM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Снижение </a:t>
            </a:r>
            <a:r>
              <a:rPr lang="ru-RU" b="1" dirty="0"/>
              <a:t>рисков</a:t>
            </a:r>
            <a:r>
              <a:rPr lang="ru-RU" dirty="0"/>
              <a:t>: 40% проектов завершаются вовремя</a:t>
            </a:r>
            <a:br>
              <a:rPr lang="ru-RU" dirty="0"/>
            </a:br>
            <a:r>
              <a:rPr lang="ru-RU" dirty="0" smtClean="0"/>
              <a:t>	</a:t>
            </a:r>
            <a:r>
              <a:rPr lang="ru-RU" b="1" dirty="0" smtClean="0"/>
              <a:t>Масштабируемость</a:t>
            </a:r>
            <a:r>
              <a:rPr lang="ru-RU" dirty="0"/>
              <a:t>: от </a:t>
            </a:r>
            <a:r>
              <a:rPr lang="ru-RU" dirty="0" err="1"/>
              <a:t>стартапов</a:t>
            </a:r>
            <a:r>
              <a:rPr lang="ru-RU" dirty="0"/>
              <a:t> до </a:t>
            </a:r>
            <a:r>
              <a:rPr lang="ru-RU" dirty="0" err="1"/>
              <a:t>enterprise</a:t>
            </a: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1" dirty="0" err="1" smtClean="0"/>
              <a:t>Roadmap</a:t>
            </a:r>
            <a:endParaRPr lang="ru-RU" dirty="0"/>
          </a:p>
          <a:p>
            <a:r>
              <a:rPr lang="ru-RU" dirty="0" smtClean="0"/>
              <a:t>	Q3 </a:t>
            </a:r>
            <a:r>
              <a:rPr lang="ru-RU" dirty="0"/>
              <a:t>2026: Интеграция с MS </a:t>
            </a:r>
            <a:r>
              <a:rPr lang="ru-RU" dirty="0" err="1"/>
              <a:t>Project</a:t>
            </a:r>
            <a:r>
              <a:rPr lang="ru-RU" dirty="0"/>
              <a:t>, </a:t>
            </a:r>
            <a:r>
              <a:rPr lang="ru-RU" dirty="0" err="1"/>
              <a:t>Asana</a:t>
            </a:r>
            <a:endParaRPr lang="ru-RU" dirty="0"/>
          </a:p>
          <a:p>
            <a:r>
              <a:rPr lang="ru-RU" dirty="0" smtClean="0"/>
              <a:t>	Q4 </a:t>
            </a:r>
            <a:r>
              <a:rPr lang="ru-RU" dirty="0"/>
              <a:t>2026: </a:t>
            </a:r>
            <a:r>
              <a:rPr lang="ru-RU" dirty="0" err="1"/>
              <a:t>Mobile</a:t>
            </a:r>
            <a:r>
              <a:rPr lang="ru-RU" dirty="0"/>
              <a:t> </a:t>
            </a:r>
            <a:r>
              <a:rPr lang="ru-RU" dirty="0" err="1"/>
              <a:t>app</a:t>
            </a:r>
            <a:endParaRPr lang="ru-RU" dirty="0"/>
          </a:p>
          <a:p>
            <a:r>
              <a:rPr lang="ru-RU" dirty="0" smtClean="0"/>
              <a:t>	Q1 </a:t>
            </a:r>
            <a:r>
              <a:rPr lang="ru-RU" dirty="0"/>
              <a:t>2027: Предиктивная аналитика загрузки команды</a:t>
            </a:r>
            <a:endParaRPr lang="ru-RU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045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43440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i="0" dirty="0" smtClean="0">
                <a:effectLst/>
              </a:rPr>
              <a:t>Команда и выводы</a:t>
            </a:r>
            <a:endParaRPr lang="ru-RU" sz="4400" b="1" i="0" dirty="0">
              <a:effectLst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63880" y="1204074"/>
            <a:ext cx="110642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Команда </a:t>
            </a:r>
            <a:r>
              <a:rPr lang="en-US" sz="2400" b="1" dirty="0" smtClean="0"/>
              <a:t>punctum</a:t>
            </a:r>
            <a:endParaRPr lang="ru-RU" sz="2400" b="1" dirty="0"/>
          </a:p>
          <a:p>
            <a:endParaRPr lang="en-US" sz="2400" dirty="0" smtClean="0"/>
          </a:p>
          <a:p>
            <a:r>
              <a:rPr lang="ru-RU" sz="2400" dirty="0" smtClean="0"/>
              <a:t>Хромов </a:t>
            </a:r>
            <a:r>
              <a:rPr lang="ru-RU" sz="2400" dirty="0" smtClean="0"/>
              <a:t>Павел </a:t>
            </a:r>
            <a:r>
              <a:rPr lang="en-US" sz="2400" dirty="0" smtClean="0"/>
              <a:t>(</a:t>
            </a:r>
            <a:r>
              <a:rPr lang="ru-RU" sz="2400" dirty="0" smtClean="0"/>
              <a:t>СДМ Банк</a:t>
            </a:r>
            <a:r>
              <a:rPr lang="en-US" sz="2400" dirty="0" smtClean="0"/>
              <a:t>) </a:t>
            </a:r>
            <a:r>
              <a:rPr lang="ru-RU" sz="2400" dirty="0" smtClean="0"/>
              <a:t>– ментор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Ключевые </a:t>
            </a:r>
            <a:r>
              <a:rPr lang="ru-RU" sz="2400" b="1" dirty="0"/>
              <a:t>достижения</a:t>
            </a:r>
          </a:p>
          <a:p>
            <a:r>
              <a:rPr lang="ru-RU" sz="2400" dirty="0" smtClean="0"/>
              <a:t>Рабочий MVP за 7 дней</a:t>
            </a:r>
            <a:br>
              <a:rPr lang="ru-RU" sz="2400" dirty="0" smtClean="0"/>
            </a:br>
            <a:r>
              <a:rPr lang="ru-RU" sz="2400" dirty="0" smtClean="0"/>
              <a:t>Точность </a:t>
            </a:r>
            <a:r>
              <a:rPr lang="ru-RU" sz="2400" dirty="0" smtClean="0"/>
              <a:t>прогнозов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smtClean="0"/>
              <a:t>Готовая </a:t>
            </a:r>
            <a:r>
              <a:rPr lang="ru-RU" sz="2400" dirty="0"/>
              <a:t>к внедрению платформа</a:t>
            </a:r>
            <a:br>
              <a:rPr lang="ru-RU" sz="2400" dirty="0"/>
            </a:br>
            <a:r>
              <a:rPr lang="ru-RU" sz="2400" dirty="0" smtClean="0"/>
              <a:t>Измеримый </a:t>
            </a:r>
            <a:r>
              <a:rPr lang="ru-RU" sz="2400" dirty="0"/>
              <a:t>бизнес-эффект</a:t>
            </a:r>
          </a:p>
          <a:p>
            <a:endParaRPr lang="ru-RU" sz="2400" b="1" dirty="0" smtClean="0"/>
          </a:p>
          <a:p>
            <a:pPr algn="ctr"/>
            <a:endParaRPr lang="ru-RU" sz="3600" b="1" dirty="0" smtClean="0"/>
          </a:p>
          <a:p>
            <a:pPr algn="ctr"/>
            <a:r>
              <a:rPr lang="ru-RU" sz="3600" b="1" dirty="0" smtClean="0"/>
              <a:t>Готовы </a:t>
            </a:r>
            <a:r>
              <a:rPr lang="ru-RU" sz="3600" b="1" dirty="0"/>
              <a:t>к пилоту!</a:t>
            </a:r>
            <a:endParaRPr lang="ru-RU" sz="3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886376" y="6386544"/>
            <a:ext cx="665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Apex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2544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60</Words>
  <Application>Microsoft Office PowerPoint</Application>
  <PresentationFormat>Широкоэкранный</PresentationFormat>
  <Paragraphs>87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Павел Хромов</dc:creator>
  <cp:lastModifiedBy>Павел Хромов</cp:lastModifiedBy>
  <cp:revision>12</cp:revision>
  <dcterms:created xsi:type="dcterms:W3CDTF">2026-05-22T08:13:29Z</dcterms:created>
  <dcterms:modified xsi:type="dcterms:W3CDTF">2026-05-22T18:30:03Z</dcterms:modified>
</cp:coreProperties>
</file>